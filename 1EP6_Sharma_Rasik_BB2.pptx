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715DDE-A903-41B3-9B19-727D78AB001E}">
  <a:tblStyle styleId="{7F715DDE-A903-41B3-9B19-727D78AB00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erriweather-regular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ee8ec26a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ee8ec26a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Osteoporosis medications are typically taken orally or injected [1].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Fosamax and </a:t>
            </a:r>
            <a:r>
              <a:rPr lang="en"/>
              <a:t>acetonel are bisphosphonates; forteo is a teriparitide hormone </a:t>
            </a:r>
            <a:r>
              <a:rPr lang="en">
                <a:solidFill>
                  <a:schemeClr val="dk1"/>
                </a:solidFill>
              </a:rPr>
              <a:t>[1].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Covered medication has an insurance co-pay of $5-$150 [2].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Osteoporosis medication is taken regularly after diagnosis, so costs can be significant over many years [2].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Extremely expensive medication is not taken indefinitely, only to treat extremely weakened bones </a:t>
            </a:r>
            <a:r>
              <a:rPr lang="en">
                <a:solidFill>
                  <a:schemeClr val="dk1"/>
                </a:solidFill>
              </a:rPr>
              <a:t>[1].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ee7637ca8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ee7637ca8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Osteoporosis places patients at a higher risk for various kinds of fractures (seen in table 1) [3].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data is from a study conducted on senior adults in the US, comparing a osteoporotic fracture cohort to a non-fracture cohort.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all fracture types, patients spend more over the course of the year following the fracture than they would if there was no fracture </a:t>
            </a:r>
            <a:r>
              <a:rPr lang="en">
                <a:solidFill>
                  <a:schemeClr val="dk1"/>
                </a:solidFill>
              </a:rPr>
              <a:t>[3].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These costs come in the form of skilled nursing, inpatient costs, and hospice care </a:t>
            </a:r>
            <a:r>
              <a:rPr lang="en">
                <a:solidFill>
                  <a:schemeClr val="dk1"/>
                </a:solidFill>
              </a:rPr>
              <a:t>[3].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Mortality rates in general are also about twice as high </a:t>
            </a:r>
            <a:r>
              <a:rPr lang="en">
                <a:solidFill>
                  <a:schemeClr val="dk1"/>
                </a:solidFill>
              </a:rPr>
              <a:t>[3].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ee8ec26a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ee8ec26a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Provinces spend significant and increasing amounts of money each year on treating fractures.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Other fractures are not as expensive as hip fractures, but they are much more common, so they are still significant costs [4].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Mention that the study itself calls these estimations conservative </a:t>
            </a:r>
            <a:r>
              <a:rPr lang="en">
                <a:solidFill>
                  <a:schemeClr val="dk1"/>
                </a:solidFill>
              </a:rPr>
              <a:t>[4].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data does not account for the fact that most of Canada’s population will be in the senior bracket around ~2035 [4].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ee7637ca8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ee7637ca8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Healthcare resources used for osteoporosis-related incidents can be thought of as an indirect cost.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bar graph shows the ratios of OF to non-OF patients in terms of their hospital admissions and nights stayed across countries; all ratios are greater than 1, so OF patients use more resources in all conditions [5].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Building off the 2nd bullet point, even for those services not included in figure 1, the OF to non-OF ratio is consistently over 1 </a:t>
            </a:r>
            <a:r>
              <a:rPr lang="en">
                <a:solidFill>
                  <a:schemeClr val="dk1"/>
                </a:solidFill>
              </a:rPr>
              <a:t>[5].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General conclusion: osteoporosis patients require a disproportionately large amount of healthcare services, </a:t>
            </a:r>
            <a:r>
              <a:rPr lang="en"/>
              <a:t>regardless</a:t>
            </a:r>
            <a:r>
              <a:rPr lang="en"/>
              <a:t> of location or the type of healthcare system </a:t>
            </a:r>
            <a:r>
              <a:rPr lang="en">
                <a:solidFill>
                  <a:schemeClr val="dk1"/>
                </a:solidFill>
              </a:rPr>
              <a:t>[5].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ee8ec26a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ee8ec26a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716700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Osteoporosis: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Economic Lens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8587250" y="140100"/>
            <a:ext cx="91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2236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costs for osteoporosis medication vary, depending on insurance and type of medication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293375" y="1370475"/>
            <a:ext cx="8271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Commonly prescribed medications for osteoporosis are typically </a:t>
            </a: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bisphosphonates (ex. alendronates and risedronates)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hormones (ex. teriparatide).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11700" y="2274950"/>
            <a:ext cx="3755400" cy="193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Generic Medication Costs: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-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Typically about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$10 USD/month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; covered under most insurance plans.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718300" y="2274750"/>
            <a:ext cx="4014900" cy="193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Name-brand Medication Costs: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-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Fosamax/Acetonel are about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$80 USD/mo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also typically covered.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-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Forteo is used for severe cases, with a cost of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$900+ USD/mo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often not covered.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98275" y="4272175"/>
            <a:ext cx="7861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Osteoporosis is non-reversible, so patients take generic medication typically for the rest of their lives*.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321100" y="4682225"/>
            <a:ext cx="382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Information adapted from CostHelper Health (n.d.) and Mayo Clinic (2014)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1915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Osteoporosis</a:t>
            </a:r>
            <a:r>
              <a:rPr lang="en"/>
              <a:t>-related fractures significantly increase the direct cost of care for over a year post-fracture </a:t>
            </a:r>
            <a:endParaRPr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4297125" y="165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{7F715DDE-A903-41B3-9B19-727D78AB001E}</a:tableStyleId>
              </a:tblPr>
              <a:tblGrid>
                <a:gridCol w="1401175"/>
                <a:gridCol w="1149825"/>
                <a:gridCol w="1277600"/>
              </a:tblGrid>
              <a:tr h="587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Category</a:t>
                      </a:r>
                      <a:endParaRPr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Fracture Cohort</a:t>
                      </a:r>
                      <a:endParaRPr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Non-Fracture Cohort</a:t>
                      </a:r>
                      <a:endParaRPr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Mean all-cause 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$47,163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$16,034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Hip fracture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$71,057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$16,807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Spine fracture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$37,543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$16,860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Radius/Ulna fracture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$24,505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$14,673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medical + pharmacy 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(second fracture)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$78,137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$44,467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" name="Google Shape;82;p15"/>
          <p:cNvSpPr txBox="1"/>
          <p:nvPr/>
        </p:nvSpPr>
        <p:spPr>
          <a:xfrm>
            <a:off x="197650" y="1658650"/>
            <a:ext cx="40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864125" y="1258450"/>
            <a:ext cx="48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Post-Fracture vs Non-Fracture Medical Costs Over 1 Year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00800" y="1916450"/>
            <a:ext cx="39189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Having osteoporosis greatly increases the chance of fractures, leading to greater costs for patients.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Beyond the one-time fracture cost, subsequent healthcare expenses are also much higher.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219700" y="4622500"/>
            <a:ext cx="38286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1: Medical costs over 1 year compared for a post-fracture and non-fracture cohort (U.S)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7184700" y="4759900"/>
            <a:ext cx="19593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Information</a:t>
            </a: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table 1 adapted 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from Williams et al. (2020)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2718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Direct acute costs for fracture treatments are are rising yearly across provinces, and projected to rise faster</a:t>
            </a:r>
            <a:endParaRPr sz="2420"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696025"/>
            <a:ext cx="5236701" cy="30298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" name="Google Shape;93;p16"/>
          <p:cNvSpPr txBox="1"/>
          <p:nvPr/>
        </p:nvSpPr>
        <p:spPr>
          <a:xfrm>
            <a:off x="5839600" y="1696025"/>
            <a:ext cx="3251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Ontario, hip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fracture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associated costs are projected to be around $280 million in 2025.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general increase year-to-year is projected for all major provinces.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301600" y="4725850"/>
            <a:ext cx="52569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Figure 1: Current and projected hip fracture costs in hundreds of millions for Ontario, Quebec, and Alberta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6691600" y="4759100"/>
            <a:ext cx="2399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Information and Figure 1 Adapted from Osteoporosis Canada (2013)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223225" y="1580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Costs: Osteoporotic Fracture (OF) patients consistently utilize more healthcare resources</a:t>
            </a:r>
            <a:endParaRPr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50" y="1558452"/>
            <a:ext cx="4751400" cy="307000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7"/>
          <p:cNvSpPr txBox="1"/>
          <p:nvPr/>
        </p:nvSpPr>
        <p:spPr>
          <a:xfrm>
            <a:off x="4981200" y="4841150"/>
            <a:ext cx="41628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Information and Figure 2 adapted from Moayyeri et al. (2023)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5313100" y="1511700"/>
            <a:ext cx="36393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fracture patients use more healthcare services, regardless of country.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These services also include ER visits, home visits, prescriptions, and outpatient visits.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21900" y="4628450"/>
            <a:ext cx="481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2: Ratios of OF to non-OF patients in terms of healthcare resource utilization in various countries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5491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References:</a:t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0" y="1507075"/>
            <a:ext cx="8144700" cy="27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Mayo Clinic. What medications help treat osteoporosis? [Internet]. Mayo Clinic. 2024. Available from: https://www.mayoclinic.org/diseases-conditions/osteoporosis/in-depth/osteoporosis-treatment/art-20046869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CostHelper Health. How Much Do Osteoporosis Treatments Cost? [Internet]. CostHelper.  Available from: https://health.costhelper.com/osteoporosis-treatments.html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Williams SA, Daigle SG, Weiss R, Wang Y, Arora T, Curtis JR. Economic Burden of Osteoporosis-Related Fractures in the US Medicare Population. Annals of Pharmacotherapy. 2020 Nov 4;55(7):821–9.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Osteoporosis Canada. Stop the unnecessary suffering -implement FLS [Internet]. Osteoporosis Canada. 2013. Available from: https://osteoporosis.ca/fls/wp-content/uploads/FLS-TOOLKIT-App-B.pdf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A. Moayyeri, Warden J, Han S, Suh HS, R. Pinedo-Villanueva, Harvey NC, et al. Estimating the economic burden of osteoporotic fractures in a multinational study: a real-world data perspective. Osteoporosis International. 2023 Aug 31;34(12):2121–32.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